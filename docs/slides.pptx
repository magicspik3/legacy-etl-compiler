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Legacy ETL Compiler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Mark London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Purpose: migrate SPSS logic into R pipelines</a:t>
            </a:r>
          </a:p>
          <a:p>
            <a:pPr lvl="0"/>
            <a:r>
              <a:rPr/>
              <a:t>Verification &amp; validation cycle of output</a:t>
            </a:r>
          </a:p>
          <a:p>
            <a:pPr lvl="0" indent="0" marL="0">
              <a:buNone/>
            </a:pPr>
            <a:r>
              <a:rPr/>
              <a:t>This is a proof of concept to explore the value potential of developing it into full product.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slides_files/figure-pptx/dot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70100"/>
            <a:ext cx="51054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/>
            <a:r>
              <a:rPr/>
              <a:t>PSPP is a free Linux version of SPSS. Whilst not identical, it accepts most SPSS syntax.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legacy-etl-compiler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Takes an existing SPSS pipeline and converts it into another language (e.g., R).</a:t>
            </a:r>
          </a:p>
          <a:p>
            <a:pPr lvl="0"/>
            <a:r>
              <a:rPr/>
              <a:t>Uses an intermediate representation to make the compiler deterministic, testable, and optimisable.</a:t>
            </a:r>
          </a:p>
          <a:p>
            <a:pPr lvl="0"/>
            <a:r>
              <a:rPr/>
              <a:t>The key intermediate representation is a State Machine built from the original script.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State Machine?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mathematical model of a program where each operation explicitly transitions the system to a new, immutable state.</a:t>
            </a:r>
          </a:p>
          <a:p>
            <a:pPr lvl="0"/>
            <a:r>
              <a:rPr/>
              <a:t>Instead of mutating variables, we create new versions at each step (e.g., </a:t>
            </a:r>
            <a:r>
              <a:rPr>
                <a:latin typeface="Courier"/>
              </a:rPr>
              <a:t>X1</a:t>
            </a:r>
            <a:r>
              <a:rPr/>
              <a:t>, </a:t>
            </a:r>
            <a:r>
              <a:rPr>
                <a:latin typeface="Courier"/>
              </a:rPr>
              <a:t>X2</a:t>
            </a:r>
            <a:r>
              <a:rPr/>
              <a:t>, </a:t>
            </a:r>
            <a:r>
              <a:rPr>
                <a:latin typeface="Courier"/>
              </a:rPr>
              <a:t>X3</a:t>
            </a:r>
            <a:r>
              <a:rPr/>
              <a:t>).</a:t>
            </a:r>
          </a:p>
          <a:p>
            <a:pPr lvl="0"/>
            <a:r>
              <a:rPr/>
              <a:t>Each step is deterministic, making complex, messy legacy pipelines significantly easier to reason about.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Order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Side‑by‑Side Comparison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Original Order</a:t>
            </a:r>
          </a:p>
          <a:p>
            <a:pPr lvl="0" indent="0">
              <a:buNone/>
            </a:pPr>
            <a:r>
              <a:rPr>
                <a:latin typeface="Courier"/>
              </a:rPr>
              <a:t>X &lt;- 1        → X = 1
Y &lt;- X * 3    → Y = 3
X &lt;- X + 1    → X = 2
Z &lt;- X * 7    → Z = 14
sum(X, Y, Z) 
Result = 19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Modified Order</a:t>
            </a:r>
          </a:p>
          <a:p>
            <a:pPr lvl="0" indent="0">
              <a:buNone/>
            </a:pPr>
            <a:r>
              <a:rPr>
                <a:latin typeface="Courier"/>
              </a:rPr>
              <a:t>X &lt;- 1        → X = 1
Z &lt;- X * 7    → Z = 7
X &lt;- X + 1    → X = 2
Y &lt;- X * 3    → Y = 6
sum(X, Y, Z)
Result = 15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State Machine View (Same Logic)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slides_files/figure-pptx/dot-figur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20900"/>
            <a:ext cx="5105400" cy="54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 Machine (Compiler-Level)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Operations become nodes in a directed acyclic graph.</a:t>
            </a:r>
          </a:p>
          <a:p>
            <a:pPr lvl="0"/>
            <a:r>
              <a:rPr/>
              <a:t>States are the intermediate datasets produced by each node.</a:t>
            </a:r>
          </a:p>
          <a:p>
            <a:pPr lvl="0"/>
            <a:r>
              <a:rPr/>
              <a:t>The compiler can then optimise, reorder, and validate these transformations.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Example: Dependency Graph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slides_files/figure-pptx/dot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14500"/>
            <a:ext cx="51054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not translate directly to 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Syntax Trap: Direct translation maps SPSS syntax directly to R syntax. This fails because the two languages have fundamentally different execution models.</a:t>
            </a:r>
          </a:p>
          <a:p>
            <a:pPr lvl="0"/>
            <a:r>
              <a:rPr/>
              <a:t>Hidden Side Effects: SPSS is highly procedural and relies on a mutable “active dataset.” R leans towards functional dataframe manipulation.</a:t>
            </a:r>
          </a:p>
          <a:p>
            <a:pPr lvl="0"/>
            <a:r>
              <a:rPr/>
              <a:t>Brittle Output: Without an intermediate logical layer, the resulting R code is often unreadable, unoptimised, and extremely difficult to test for true equivalence.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via a State Machine?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State Machine models the true underlying </a:t>
            </a:r>
            <a:r>
              <a:rPr i="1"/>
              <a:t>territory</a:t>
            </a:r>
            <a:r>
              <a:rPr/>
              <a:t> of the data lifecycle, independent of the </a:t>
            </a:r>
            <a:r>
              <a:rPr i="1"/>
              <a:t>map</a:t>
            </a:r>
            <a:r>
              <a:rPr/>
              <a:t> (the syntax) of either language.</a:t>
            </a:r>
          </a:p>
          <a:p>
            <a:pPr lvl="0"/>
            <a:r>
              <a:rPr/>
              <a:t>It makes dependencies explicitly clear and eliminates hidden side effects.</a:t>
            </a:r>
          </a:p>
          <a:p>
            <a:pPr lvl="0"/>
            <a:r>
              <a:rPr/>
              <a:t>It safely allows the compiler to reorder, optimise, and mathematically verify transformations while ensuring behavioural equivalence.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Verification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folder </a:t>
            </a:r>
            <a:r>
              <a:rPr>
                <a:latin typeface="Courier"/>
              </a:rPr>
              <a:t>new_dist/verification</a:t>
            </a:r>
            <a:r>
              <a:rPr/>
              <a:t> captures the full verification chain for the compiler run.</a:t>
            </a:r>
          </a:p>
          <a:p>
            <a:pPr lvl="0" indent="0">
              <a:buNone/>
            </a:pPr>
            <a:r>
              <a:rPr>
                <a:latin typeface="Courier"/>
              </a:rPr>
              <a:t>- 00_original_spss.txt`: original SPSS/PSPP source script
- 01_source_verification.txt`: PSPP execution status and output
- 02_raw_topology.yaml`: compiler’s initial topology (graph) for the source
- 03_optimized_topology.yaml`: topology after compiler optimizations
- 04_generated_code.R`: generated R pipeline
- 05_target_verification.txt`: R execution status and output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00_original_spss.txt (Source)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* Hello World Pipeline.
* 1. LOAD .
GET DATA
  /TYPE=TXT
  /FILE='hello.csv'
  /ARRANGEMENT=DELIMITED
  /DELIMITERS=','
  /FIRSTCASE=2
  /VARIABLES=
    id F8.0
    name A10.
* 2. SORT (The Test Case).
SORT CASES BY id.
* 3. SAVE (Using TRANSLATE to get a readable CSV).
SAVE TRANSLATE
  /OUTFILE='hello_sorted.csv'
  /TYPE=CSV
  /REPLACE.   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01_source_verification.txt (PSPP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Command: pspp hello.sps
Status: ✅ Success
=== OUTPUT ===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02_raw_topology.yaml (Compiled Topology)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Pipeline Topology: 3 Operations</a:t>
            </a:r>
            <a:br/>
            <a:r>
              <a:rPr>
                <a:solidFill>
                  <a:srgbClr val="BC7A00"/>
                </a:solidFill>
                <a:latin typeface="Courier"/>
              </a:rPr>
              <a:t>----------------------------------------</a:t>
            </a:r>
            <a:br/>
            <a:r>
              <a:rPr>
                <a:solidFill>
                  <a:srgbClr val="06287E"/>
                </a:solidFill>
                <a:latin typeface="Courier"/>
              </a:rPr>
              <a:t>Operation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op_001_load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  LOAD_CSV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[]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'source_hello.csv'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'filename'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'hello.csv'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'format'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'TXT'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'schema'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'name'</a:t>
            </a:r>
            <a:r>
              <a:rPr b="1">
                <a:solidFill>
                  <a:srgbClr val="007020"/>
                </a:solidFill>
                <a:latin typeface="Courier"/>
              </a:rPr>
              <a:t>],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'skip_rows'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Operation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op_002_sort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  SORT_ROWS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'source_hello.csv'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'ds_001_sorted'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'keys'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'order'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'ascending'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Operation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op_003_save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  SAVE_BINARY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'ds_001_sorted'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'file_hello_sorted.csv'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'filename'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'hello_sorted.csv'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03_optimized_topology.yaml (Optimized Topology)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Pipeline Topology: 3 Operations</a:t>
            </a:r>
            <a:br/>
            <a:r>
              <a:rPr>
                <a:solidFill>
                  <a:srgbClr val="BC7A00"/>
                </a:solidFill>
                <a:latin typeface="Courier"/>
              </a:rPr>
              <a:t>----------------------------------------</a:t>
            </a:r>
            <a:br/>
            <a:r>
              <a:rPr>
                <a:solidFill>
                  <a:srgbClr val="06287E"/>
                </a:solidFill>
                <a:latin typeface="Courier"/>
              </a:rPr>
              <a:t>Operation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op_001_load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  LOAD_CSV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[]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'source_hello.csv'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'filename'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'hello.csv'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'format'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'TXT'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'schema'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'name'</a:t>
            </a:r>
            <a:r>
              <a:rPr b="1">
                <a:solidFill>
                  <a:srgbClr val="007020"/>
                </a:solidFill>
                <a:latin typeface="Courier"/>
              </a:rPr>
              <a:t>],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'skip_rows'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Operation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op_002_sort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  SORT_ROWS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'source_hello.csv'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'ds_001_sorted'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'keys'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'order'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'ascending'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Operation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op_003_save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  SAVE_BINARY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'ds_001_sorted'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'file_hello_sorted.csv'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'filename'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'hello_sorted.csv'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04_generated_code.R (Generated 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Auto-Generated ETL Script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Generated by: V&amp;V Compiler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Dialect: Tidyverse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(tidyverse)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(lubridate)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(haven)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Op: op_001_load</a:t>
            </a:r>
            <a:br/>
            <a:r>
              <a:rPr>
                <a:latin typeface="Courier"/>
              </a:rPr>
              <a:t>source_hello.csv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"hello.csv"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Op: op_002_sort</a:t>
            </a:r>
            <a:br/>
            <a:r>
              <a:rPr>
                <a:latin typeface="Courier"/>
              </a:rPr>
              <a:t>ds_001_sorted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source_hello.csv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arrange</a:t>
            </a:r>
            <a:r>
              <a:rPr>
                <a:latin typeface="Courier"/>
              </a:rPr>
              <a:t>(id)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Op: op_003_save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write_csv</a:t>
            </a:r>
            <a:r>
              <a:rPr>
                <a:latin typeface="Courier"/>
              </a:rPr>
              <a:t>(ds_001_sorted, </a:t>
            </a:r>
            <a:r>
              <a:rPr>
                <a:solidFill>
                  <a:srgbClr val="4070A0"/>
                </a:solidFill>
                <a:latin typeface="Courier"/>
              </a:rPr>
              <a:t>"hello_sorted.csv"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05_target_verification.txt (R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Command: Rscript dist/pipeline.R
Status: ✅ Success
=== OUTPUT ===
── Column specification ────────────────────────────────────────────────────────
Delimiter: ","
chr (1): name
dbl (1): id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 Loading
- GET DATA /TYPE=TXT /FILE='filename.csv' /DELIMITERS=','
  - Loads CSV files with comma delimiters - Generates `read_csv()` in R
- GET DATA /TYPE=SAV /FILE='filename.sav'
  - Loads SPSS .sav files - Generates `read_sav()` in R
Data Manipulation
- SORT CASES BY variable(s) (A/D)
- COMPUTE target = expression
  - Basic arithmetic and logical expressions
  - Variable assignments
- IF (condition) target = expression
  - Generates `mutate()` with `if_else()` in R
- RECODE source_vars (...) INTO target_vars
  - Variable recoding with mapping rules
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 Filtering
- SELECT IF (condition)
  - Row filtering based on conditions
  - Generates `filter()` in R
Data Joining
- MATCH FILES /FILE=* /TABLE='file' /BY key
  - Inner and left joins
  - Multiple key variables
  - Generates `inner_join()` and `left_join()` in R
Aggregation
- AGGREGATE /BREAK=group_vars /target=func(source)
  - Grouped aggregations
  - Functions: MEAN, SUM, MAX, MIN
  - Generates `group_by()` and `summarise()` in R
Schema Definition
- DATA LIST FREE / var1 (F8.0) var2 (A10)
  - Variable type definitions
  - Basic format specifications
  - Injected into IR schema
Data Saving
- SAVE OUTFILE='filename.sav'
  - Saves to SPSS .sav format
  - Generates `write_sav()` in R
- SAVE OUTFILE='filename.csv'
  - Saves to CSV format
  - Generates `write_csv()` in 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Supported Functions and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Mathematical Functions
- TRUNC() → floor()
- RND() → round()
- ABS() → abs()
- MOD(a,b) → a %% b
String Functions
- CONCAT() → paste0()
- PASTE() → paste0()
- STR_C() → str_c()
Statistical Functions
- MEAN() → mean()
- LAG() → lag()
Logical Operators
- AND → &amp;
- OR → |
- &lt;&gt; → !=
- = → == (in expressions)
Conditional Functions
- IF_ELSE() → if_else()
- CASE_WHEN() → case_when()
- NA_IF() → na_if()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Date Functions
- DATE.MDY(m,d,y) → make_date(year=y, month=m, day=d)
Special Values
- $SYSMIS → NA
Partially Supported Features
Conditional Logic
- DO IF / END IF blocks
  - Basic structure recognized
  - May have formatting inconsistencies in generated conditions
Generic Commands
- Unknown SPSS commands parsed as generic nodes
- Logged as warnings in generated R code
- No functional implementation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Unsupported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 Input
- Complex DATA LIST formats beyond FREE
- BEGIN DATA / END DATA inline data blocks (skipped)
- Other file types beyond TXT and SAV
- Complex delimiter specifications
Advanced Functions
- Most SPSS-specific functions not in the registry
- Advanced string manipulation beyond CONCAT
- Complex date/time operations beyond MDY
- Missing value patterns beyond $SYSMIS
Control Flow
- Complex nested IF/DO IF structures
- LOOP/END LOOP constructs
- Macro definitions and calls
Output
- Complex SAVE options and formats
- EXPORT commands
- PRINT/WRITE statements
Statistical Procedures
- All statistical analysis commands (DESCRIPTIVES, FREQUENCIES, etc.)
- Parsed as generic nodes with warnings
File Management
- FILE HANDLE definitions
- Complex file path handling
- Temporary file management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ETL Compiler</dc:title>
  <dc:creator>Mark London</dc:creator>
  <cp:keywords/>
  <dcterms:created xsi:type="dcterms:W3CDTF">2026-03-14T16:52:08Z</dcterms:created>
  <dcterms:modified xsi:type="dcterms:W3CDTF">2026-03-14T16:52:08Z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2026-10-03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